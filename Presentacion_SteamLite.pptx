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6C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6C0F4"/>
                </a:solidFill>
              </a:defRPr>
            </a:pPr>
            <a:r>
              <a:t>PROYECTO INTEGRADOR — DESARROLLO FRONTEND</a:t>
            </a:r>
          </a:p>
          <a:p>
            <a:pPr algn="ctr">
              <a:defRPr sz="4600" b="1">
                <a:solidFill>
                  <a:srgbClr val="FFFFFF"/>
                </a:solidFill>
              </a:defRPr>
            </a:pPr>
            <a:r>
              <a:t>🎮 SteamLite v2.0</a:t>
            </a:r>
          </a:p>
          <a:p>
            <a:pPr algn="ctr">
              <a:defRPr sz="2000">
                <a:solidFill>
                  <a:srgbClr val="C8D2DC"/>
                </a:solidFill>
              </a:defRPr>
            </a:pPr>
            <a:r>
              <a:t>Plataforma SPA de Distribución Digital, Pasarela de Pago y Mini-Juegos Web</a:t>
            </a:r>
          </a:p>
          <a:p>
            <a:br/>
            <a:pPr algn="ctr">
              <a:defRPr sz="1400" b="1">
                <a:solidFill>
                  <a:srgbClr val="5C7E10"/>
                </a:solidFill>
              </a:defRPr>
            </a:pPr>
            <a:r>
              <a:t>React 19  •  Vite 8  •  React Router v7  •  Formik + Yup  •  HTML5 Canvas 2D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6C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6C0F4"/>
                </a:solidFill>
              </a:defRPr>
            </a:pPr>
            <a:r>
              <a:t>ESTRUCTURA DEL PROYECTO</a:t>
            </a:r>
          </a:p>
          <a:p>
            <a:pPr algn="r">
              <a:defRPr sz="1100">
                <a:solidFill>
                  <a:srgbClr val="8F98A0"/>
                </a:solidFill>
              </a:defRPr>
            </a:pPr>
            <a:r>
              <a:t>02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Distribución por Roles y Arquitectura Modular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B2838"/>
          </a:solidFill>
          <a:ln w="25400">
            <a:solidFill>
              <a:srgbClr val="66C0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6C0F4"/>
                </a:solidFill>
              </a:defRPr>
            </a:pPr>
            <a:r>
              <a:t>👤 Integrante 1: Core Developer</a:t>
            </a:r>
          </a:p>
          <a:p>
            <a:pPr>
              <a:spcBef>
                <a:spcPts val="1000"/>
              </a:spcBef>
              <a:defRPr sz="1300">
                <a:solidFill>
                  <a:srgbClr val="C8D2DC"/>
                </a:solidFill>
              </a:defRPr>
            </a:pPr>
            <a:r>
              <a:t>• Catálogo centralizado en games.json</a:t>
            </a:r>
          </a:p>
          <a:p>
            <a:pPr>
              <a:spcBef>
                <a:spcPts val="1000"/>
              </a:spcBef>
              <a:defRPr sz="1300">
                <a:solidFill>
                  <a:srgbClr val="C8D2DC"/>
                </a:solidFill>
              </a:defRPr>
            </a:pPr>
            <a:r>
              <a:t>• Filtrado reactivo (texto, género, precio)</a:t>
            </a:r>
          </a:p>
          <a:p>
            <a:pPr>
              <a:spcBef>
                <a:spcPts val="1000"/>
              </a:spcBef>
              <a:defRPr sz="1300">
                <a:solidFill>
                  <a:srgbClr val="C8D2DC"/>
                </a:solidFill>
              </a:defRPr>
            </a:pPr>
            <a:r>
              <a:t>• 3 Mini-Juegos en JS nativo y Canvas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383280" cy="4389120"/>
          </a:xfrm>
          <a:prstGeom prst="roundRect">
            <a:avLst/>
          </a:prstGeom>
          <a:solidFill>
            <a:srgbClr val="1B2838"/>
          </a:solidFill>
          <a:ln w="25400">
            <a:solidFill>
              <a:srgbClr val="5C7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5C7E10"/>
                </a:solidFill>
              </a:defRPr>
            </a:pPr>
            <a:r>
              <a:t>👤 Integrante 2: UI &amp; Vistas</a:t>
            </a:r>
          </a:p>
          <a:p>
            <a:pPr>
              <a:spcBef>
                <a:spcPts val="1000"/>
              </a:spcBef>
              <a:defRPr sz="1300">
                <a:solidFill>
                  <a:srgbClr val="C8D2DC"/>
                </a:solidFill>
              </a:defRPr>
            </a:pPr>
            <a:r>
              <a:t>• Enrutamiento con react-router-dom v7</a:t>
            </a:r>
          </a:p>
          <a:p>
            <a:pPr>
              <a:spcBef>
                <a:spcPts val="1000"/>
              </a:spcBef>
              <a:defRPr sz="1300">
                <a:solidFill>
                  <a:srgbClr val="C8D2DC"/>
                </a:solidFill>
              </a:defRPr>
            </a:pPr>
            <a:r>
              <a:t>• Componentes modulares (Navbar, Footer)</a:t>
            </a:r>
          </a:p>
          <a:p>
            <a:pPr>
              <a:spcBef>
                <a:spcPts val="1000"/>
              </a:spcBef>
              <a:defRPr sz="1300">
                <a:solidFill>
                  <a:srgbClr val="C8D2DC"/>
                </a:solidFill>
              </a:defRPr>
            </a:pPr>
            <a:r>
              <a:t>• Interfaz responsiva con tema oscuro Steam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645920"/>
            <a:ext cx="3383280" cy="4389120"/>
          </a:xfrm>
          <a:prstGeom prst="roundRect">
            <a:avLst/>
          </a:prstGeom>
          <a:solidFill>
            <a:srgbClr val="1B2838"/>
          </a:solidFill>
          <a:ln w="254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AA00"/>
                </a:solidFill>
              </a:defRPr>
            </a:pPr>
            <a:r>
              <a:t>👤 Integrante 3: State &amp; Storage</a:t>
            </a:r>
          </a:p>
          <a:p>
            <a:pPr>
              <a:spcBef>
                <a:spcPts val="1000"/>
              </a:spcBef>
              <a:defRPr sz="1300">
                <a:solidFill>
                  <a:srgbClr val="C8D2DC"/>
                </a:solidFill>
              </a:defRPr>
            </a:pPr>
            <a:r>
              <a:t>• Estado global con Context API (ShopContext)</a:t>
            </a:r>
          </a:p>
          <a:p>
            <a:pPr>
              <a:spcBef>
                <a:spcPts val="1000"/>
              </a:spcBef>
              <a:defRPr sz="1300">
                <a:solidFill>
                  <a:srgbClr val="C8D2DC"/>
                </a:solidFill>
              </a:defRPr>
            </a:pPr>
            <a:r>
              <a:t>• Persistencia permanente en localStorage</a:t>
            </a:r>
          </a:p>
          <a:p>
            <a:pPr>
              <a:spcBef>
                <a:spcPts val="1000"/>
              </a:spcBef>
              <a:defRPr sz="1300">
                <a:solidFill>
                  <a:srgbClr val="C8D2DC"/>
                </a:solidFill>
              </a:defRPr>
            </a:pPr>
            <a:r>
              <a:t>• Checkout con validaciones estrictas (Formik/Yup)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6C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6C0F4"/>
                </a:solidFill>
              </a:defRPr>
            </a:pPr>
            <a:r>
              <a:t>DEMOSTRACIÓN FUNCIONAL</a:t>
            </a:r>
          </a:p>
          <a:p>
            <a:pPr algn="r">
              <a:defRPr sz="1100">
                <a:solidFill>
                  <a:srgbClr val="8F98A0"/>
                </a:solidFill>
              </a:defRPr>
            </a:pPr>
            <a:r>
              <a:t>03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1. Tienda y Catálogo Interactivo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B2838"/>
          </a:solidFill>
          <a:ln>
            <a:solidFill>
              <a:srgbClr val="32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6C0F4"/>
                </a:solidFill>
              </a:defRPr>
            </a:pPr>
            <a:r>
              <a:t>Características del Catálogo</a:t>
            </a:r>
          </a:p>
          <a:p>
            <a:pPr>
              <a:spcBef>
                <a:spcPts val="800"/>
              </a:spcBef>
              <a:defRPr sz="1350">
                <a:solidFill>
                  <a:srgbClr val="C8D2DC"/>
                </a:solidFill>
              </a:defRPr>
            </a:pPr>
            <a:r>
              <a:t>• Carga asíncrona mediante useEffect y fetch local.</a:t>
            </a:r>
          </a:p>
          <a:p>
            <a:pPr>
              <a:spcBef>
                <a:spcPts val="800"/>
              </a:spcBef>
              <a:defRPr sz="1350">
                <a:solidFill>
                  <a:srgbClr val="C8D2DC"/>
                </a:solidFill>
              </a:defRPr>
            </a:pPr>
            <a:r>
              <a:t>• Buscador en tiempo real por título y descripción.</a:t>
            </a:r>
          </a:p>
          <a:p>
            <a:pPr>
              <a:spcBef>
                <a:spcPts val="800"/>
              </a:spcBef>
              <a:defRPr sz="1350">
                <a:solidFill>
                  <a:srgbClr val="C8D2DC"/>
                </a:solidFill>
              </a:defRPr>
            </a:pPr>
            <a:r>
              <a:t>• Filtro dinámico de géneros y ordenamiento por precio.</a:t>
            </a:r>
          </a:p>
          <a:p>
            <a:pPr>
              <a:spcBef>
                <a:spcPts val="800"/>
              </a:spcBef>
              <a:defRPr sz="1350">
                <a:solidFill>
                  <a:srgbClr val="C8D2DC"/>
                </a:solidFill>
              </a:defRPr>
            </a:pPr>
            <a:r>
              <a:t>• Tarjetas interactivas con estados inteligentes: Comprar / En Carrito / En Biblioteca.</a:t>
            </a:r>
          </a:p>
          <a:p>
            <a:pPr>
              <a:spcBef>
                <a:spcPts val="800"/>
              </a:spcBef>
              <a:defRPr sz="1350">
                <a:solidFill>
                  <a:srgbClr val="C8D2DC"/>
                </a:solidFill>
              </a:defRPr>
            </a:pPr>
            <a:r>
              <a:t>• Notificaciones flotantes (Toast) al interactuar.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01216"/>
          </a:solidFill>
          <a:ln w="19050">
            <a:solidFill>
              <a:srgbClr val="66C0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6C0F4"/>
                </a:solidFill>
              </a:defRPr>
            </a:pPr>
            <a:r>
              <a:t>📷 [Pegar Captura: Catálogo / Tienda]</a:t>
            </a:r>
          </a:p>
          <a:p>
            <a:pPr algn="ctr">
              <a:defRPr sz="1200">
                <a:solidFill>
                  <a:srgbClr val="8F98A0"/>
                </a:solidFill>
              </a:defRPr>
            </a:pPr>
            <a:r>
              <a:t>Inserta aquí la captura de pantalla de la página principal (Home.jsx)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6C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6C0F4"/>
                </a:solidFill>
              </a:defRPr>
            </a:pPr>
            <a:r>
              <a:t>DEMOSTRACIÓN FUNCIONAL</a:t>
            </a:r>
          </a:p>
          <a:p>
            <a:pPr algn="r">
              <a:defRPr sz="1100">
                <a:solidFill>
                  <a:srgbClr val="8F98A0"/>
                </a:solidFill>
              </a:defRPr>
            </a:pPr>
            <a:r>
              <a:t>04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2. Carrito de Compras &amp; Checkout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B2838"/>
          </a:solidFill>
          <a:ln>
            <a:solidFill>
              <a:srgbClr val="32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6C0F4"/>
                </a:solidFill>
              </a:defRPr>
            </a:pPr>
            <a:r>
              <a:t>Flujo de Compra y Validaciones</a:t>
            </a:r>
          </a:p>
          <a:p>
            <a:pPr>
              <a:spcBef>
                <a:spcPts val="600"/>
              </a:spcBef>
              <a:defRPr sz="1350">
                <a:solidFill>
                  <a:srgbClr val="C8D2DC"/>
                </a:solidFill>
              </a:defRPr>
            </a:pPr>
            <a:r>
              <a:t>• Gestión completa: añadir items, eliminar individual y vaciar cesta.</a:t>
            </a:r>
          </a:p>
          <a:p>
            <a:pPr>
              <a:spcBef>
                <a:spcPts val="600"/>
              </a:spcBef>
              <a:defRPr sz="1350">
                <a:solidFill>
                  <a:srgbClr val="C8D2DC"/>
                </a:solidFill>
              </a:defRPr>
            </a:pPr>
            <a:r>
              <a:t>• Validación estricta con Formik + Yup:</a:t>
            </a:r>
          </a:p>
          <a:p>
            <a:pPr>
              <a:spcBef>
                <a:spcPts val="600"/>
              </a:spcBef>
              <a:defRPr sz="1350">
                <a:solidFill>
                  <a:srgbClr val="C8D2DC"/>
                </a:solidFill>
              </a:defRPr>
            </a:pPr>
            <a:r>
              <a:t>•   - Tarjeta: 16 dígitos numéricos exactos.</a:t>
            </a:r>
          </a:p>
          <a:p>
            <a:pPr>
              <a:spcBef>
                <a:spcPts val="600"/>
              </a:spcBef>
              <a:defRPr sz="1350">
                <a:solidFill>
                  <a:srgbClr val="C8D2DC"/>
                </a:solidFill>
              </a:defRPr>
            </a:pPr>
            <a:r>
              <a:t>•   - Titular: Mínimo 3 caracteres requeridos.</a:t>
            </a:r>
          </a:p>
          <a:p>
            <a:pPr>
              <a:spcBef>
                <a:spcPts val="600"/>
              </a:spcBef>
              <a:defRPr sz="1350">
                <a:solidFill>
                  <a:srgbClr val="C8D2DC"/>
                </a:solidFill>
              </a:defRPr>
            </a:pPr>
            <a:r>
              <a:t>•   - Vencimiento (MM/AA) y CVV bancario.</a:t>
            </a:r>
          </a:p>
          <a:p>
            <a:pPr>
              <a:spcBef>
                <a:spcPts val="600"/>
              </a:spcBef>
              <a:defRPr sz="1350">
                <a:solidFill>
                  <a:srgbClr val="C8D2DC"/>
                </a:solidFill>
              </a:defRPr>
            </a:pPr>
            <a:r>
              <a:t>• Botón de prueba rápida '⚡ Auto-rellenar'.</a:t>
            </a:r>
          </a:p>
          <a:p>
            <a:pPr>
              <a:spcBef>
                <a:spcPts val="600"/>
              </a:spcBef>
              <a:defRPr sz="1350">
                <a:solidFill>
                  <a:srgbClr val="C8D2DC"/>
                </a:solidFill>
              </a:defRPr>
            </a:pPr>
            <a:r>
              <a:t>• Modal de Confirmación estilo Steam (sustituye alert).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01216"/>
          </a:solidFill>
          <a:ln w="19050">
            <a:solidFill>
              <a:srgbClr val="66C0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6C0F4"/>
                </a:solidFill>
              </a:defRPr>
            </a:pPr>
            <a:r>
              <a:t>📷 [Pegar Captura: Carrito y Checkout]</a:t>
            </a:r>
          </a:p>
          <a:p>
            <a:pPr algn="ctr">
              <a:defRPr sz="1200">
                <a:solidFill>
                  <a:srgbClr val="8F98A0"/>
                </a:solidFill>
              </a:defRPr>
            </a:pPr>
            <a:r>
              <a:t>Inserta aquí la captura del formulario de pago y el modal de compra exitosa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6C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6C0F4"/>
                </a:solidFill>
              </a:defRPr>
            </a:pPr>
            <a:r>
              <a:t>DEMOSTRACIÓN FUNCIONAL</a:t>
            </a:r>
          </a:p>
          <a:p>
            <a:pPr algn="r">
              <a:defRPr sz="1100">
                <a:solidFill>
                  <a:srgbClr val="8F98A0"/>
                </a:solidFill>
              </a:defRPr>
            </a:pPr>
            <a:r>
              <a:t>05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3. Biblioteca Personal y Persistencia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B2838"/>
          </a:solidFill>
          <a:ln>
            <a:solidFill>
              <a:srgbClr val="32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6C0F4"/>
                </a:solidFill>
              </a:defRPr>
            </a:pPr>
            <a:r>
              <a:t>Persistencia con Web Storage</a:t>
            </a:r>
          </a:p>
          <a:p>
            <a:pPr>
              <a:spcBef>
                <a:spcPts val="800"/>
              </a:spcBef>
              <a:defRPr sz="1350">
                <a:solidFill>
                  <a:srgbClr val="C8D2DC"/>
                </a:solidFill>
              </a:defRPr>
            </a:pPr>
            <a:r>
              <a:t>• Persistencia permanente con localStorage ('steamlite_library').</a:t>
            </a:r>
          </a:p>
          <a:p>
            <a:pPr>
              <a:spcBef>
                <a:spcPts val="800"/>
              </a:spcBef>
              <a:defRPr sz="1350">
                <a:solidFill>
                  <a:srgbClr val="C8D2DC"/>
                </a:solidFill>
              </a:defRPr>
            </a:pPr>
            <a:r>
              <a:t>• Prevención de duplicados: se valida antes de agregar al carrito.</a:t>
            </a:r>
          </a:p>
          <a:p>
            <a:pPr>
              <a:spcBef>
                <a:spcPts val="800"/>
              </a:spcBef>
              <a:defRPr sz="1350">
                <a:solidFill>
                  <a:srgbClr val="C8D2DC"/>
                </a:solidFill>
              </a:defRPr>
            </a:pPr>
            <a:r>
              <a:t>• Actualización reactiva en la tienda: cambia botón a 'En Biblioteca'.</a:t>
            </a:r>
          </a:p>
          <a:p>
            <a:pPr>
              <a:spcBef>
                <a:spcPts val="800"/>
              </a:spcBef>
              <a:defRPr sz="1350">
                <a:solidFill>
                  <a:srgbClr val="C8D2DC"/>
                </a:solidFill>
              </a:defRPr>
            </a:pPr>
            <a:r>
              <a:t>• Buscador interno para filtrar colecciones grandes.</a:t>
            </a:r>
          </a:p>
          <a:p>
            <a:pPr>
              <a:spcBef>
                <a:spcPts val="800"/>
              </a:spcBef>
              <a:defRPr sz="1350">
                <a:solidFill>
                  <a:srgbClr val="C8D2DC"/>
                </a:solidFill>
              </a:defRPr>
            </a:pPr>
            <a:r>
              <a:t>• Acceso directo con un clic al motor del juego ('▶ Jugar').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01216"/>
          </a:solidFill>
          <a:ln w="19050">
            <a:solidFill>
              <a:srgbClr val="66C0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6C0F4"/>
                </a:solidFill>
              </a:defRPr>
            </a:pPr>
            <a:r>
              <a:t>📷 [Pegar Captura: Mi Biblioteca]</a:t>
            </a:r>
          </a:p>
          <a:p>
            <a:pPr algn="ctr">
              <a:defRPr sz="1200">
                <a:solidFill>
                  <a:srgbClr val="8F98A0"/>
                </a:solidFill>
              </a:defRPr>
            </a:pPr>
            <a:r>
              <a:t>Inserta aquí la captura de pantalla de la colección de juegos adquiridos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6C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6C0F4"/>
                </a:solidFill>
              </a:defRPr>
            </a:pPr>
            <a:r>
              <a:t>MOTORES DE JUEGO EN JAVASCRIPT</a:t>
            </a:r>
          </a:p>
          <a:p>
            <a:pPr algn="r">
              <a:defRPr sz="1100">
                <a:solidFill>
                  <a:srgbClr val="8F98A0"/>
                </a:solidFill>
              </a:defRPr>
            </a:pPr>
            <a:r>
              <a:t>06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4. Tres Mini-Juegos Integrados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66C0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🐍 Snake Retro (g1)</a:t>
            </a:r>
          </a:p>
          <a:p>
            <a:pPr>
              <a:spcBef>
                <a:spcPts val="800"/>
              </a:spcBef>
              <a:defRPr sz="1200">
                <a:solidFill>
                  <a:srgbClr val="C8D2DC"/>
                </a:solidFill>
              </a:defRPr>
            </a:pPr>
            <a:r>
              <a:t>Motor matricial, colisiones de pared y cuerpo, récord histórico guardado en localStorage y controles WASD/flechas.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840480"/>
            <a:ext cx="3017520" cy="1920240"/>
          </a:xfrm>
          <a:prstGeom prst="roundRect">
            <a:avLst/>
          </a:prstGeom>
          <a:solidFill>
            <a:srgbClr val="101216"/>
          </a:solidFill>
          <a:ln w="19050">
            <a:solidFill>
              <a:srgbClr val="66C0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6C0F4"/>
                </a:solidFill>
              </a:defRPr>
            </a:pPr>
            <a:r>
              <a:t>📷 [Captura Snake]</a:t>
            </a:r>
          </a:p>
          <a:p>
            <a:pPr algn="ctr">
              <a:defRPr sz="1200">
                <a:solidFill>
                  <a:srgbClr val="8F98A0"/>
                </a:solidFill>
              </a:defRPr>
            </a:pPr>
            <a:r>
              <a:t>Pega la captura del juego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45920"/>
            <a:ext cx="3383280" cy="438912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66C0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🏓 Neon Pong (g2)</a:t>
            </a:r>
          </a:p>
          <a:p>
            <a:pPr>
              <a:spcBef>
                <a:spcPts val="800"/>
              </a:spcBef>
              <a:defRPr sz="1200">
                <a:solidFill>
                  <a:srgbClr val="C8D2DC"/>
                </a:solidFill>
              </a:defRPr>
            </a:pPr>
            <a:r>
              <a:t>Renderizado en Canvas 2D a 60 FPS, estética synthwave, física con aceleración, IA predictiva y marcador a 5 puntos.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3840480"/>
            <a:ext cx="3017520" cy="1920240"/>
          </a:xfrm>
          <a:prstGeom prst="roundRect">
            <a:avLst/>
          </a:prstGeom>
          <a:solidFill>
            <a:srgbClr val="101216"/>
          </a:solidFill>
          <a:ln w="19050">
            <a:solidFill>
              <a:srgbClr val="66C0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6C0F4"/>
                </a:solidFill>
              </a:defRPr>
            </a:pPr>
            <a:r>
              <a:t>📷 [Captura Neon Pong]</a:t>
            </a:r>
          </a:p>
          <a:p>
            <a:pPr algn="ctr">
              <a:defRPr sz="1200">
                <a:solidFill>
                  <a:srgbClr val="8F98A0"/>
                </a:solidFill>
              </a:defRPr>
            </a:pPr>
            <a:r>
              <a:t>Pega la captura del juego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645920"/>
            <a:ext cx="3383280" cy="438912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66C0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🚀 Space Defender (g3)</a:t>
            </a:r>
          </a:p>
          <a:p>
            <a:pPr>
              <a:spcBef>
                <a:spcPts val="800"/>
              </a:spcBef>
              <a:defRPr sz="1200">
                <a:solidFill>
                  <a:srgbClr val="C8D2DC"/>
                </a:solidFill>
              </a:defRPr>
            </a:pPr>
            <a:r>
              <a:t>Arcade shooter con estrellas en paralaje, ráfagas láser, proyectiles alienígenas, vidas y condición de victoria.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840480"/>
            <a:ext cx="3017520" cy="1920240"/>
          </a:xfrm>
          <a:prstGeom prst="roundRect">
            <a:avLst/>
          </a:prstGeom>
          <a:solidFill>
            <a:srgbClr val="101216"/>
          </a:solidFill>
          <a:ln w="19050">
            <a:solidFill>
              <a:srgbClr val="66C0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6C0F4"/>
                </a:solidFill>
              </a:defRPr>
            </a:pPr>
            <a:r>
              <a:t>📷 [Captura Space Defender]</a:t>
            </a:r>
          </a:p>
          <a:p>
            <a:pPr algn="ctr">
              <a:defRPr sz="1200">
                <a:solidFill>
                  <a:srgbClr val="8F98A0"/>
                </a:solidFill>
              </a:defRPr>
            </a:pPr>
            <a:r>
              <a:t>Pega la captura del juego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6C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6C0F4"/>
                </a:solidFill>
              </a:defRPr>
            </a:pPr>
            <a:r>
              <a:t>CIERRE DE LA EXPOSICIÓN</a:t>
            </a:r>
          </a:p>
          <a:p>
            <a:pPr algn="r">
              <a:defRPr sz="1100">
                <a:solidFill>
                  <a:srgbClr val="8F98A0"/>
                </a:solidFill>
              </a:defRPr>
            </a:pPr>
            <a:r>
              <a:t>07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Conclusiones y Preguntas del Jurado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3474720"/>
          </a:xfrm>
          <a:prstGeom prst="roundRect">
            <a:avLst/>
          </a:prstGeom>
          <a:solidFill>
            <a:srgbClr val="1B2838"/>
          </a:solidFill>
          <a:ln>
            <a:solidFill>
              <a:srgbClr val="5C7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5C7E10"/>
                </a:solidFill>
              </a:defRPr>
            </a:pPr>
            <a:r>
              <a:t>✅ Objetivos Alcanzados</a:t>
            </a:r>
          </a:p>
          <a:p>
            <a:pPr>
              <a:spcBef>
                <a:spcPts val="600"/>
              </a:spcBef>
              <a:defRPr sz="1300">
                <a:solidFill>
                  <a:srgbClr val="C8D2DC"/>
                </a:solidFill>
              </a:defRPr>
            </a:pPr>
            <a:r>
              <a:t>• SPA robusta con Vite y React 19.</a:t>
            </a:r>
          </a:p>
          <a:p>
            <a:pPr>
              <a:spcBef>
                <a:spcPts val="600"/>
              </a:spcBef>
              <a:defRPr sz="1300">
                <a:solidFill>
                  <a:srgbClr val="C8D2DC"/>
                </a:solidFill>
              </a:defRPr>
            </a:pPr>
            <a:r>
              <a:t>• Estado global limpio sin boilerplate con Context API.</a:t>
            </a:r>
          </a:p>
          <a:p>
            <a:pPr>
              <a:spcBef>
                <a:spcPts val="600"/>
              </a:spcBef>
              <a:defRPr sz="1300">
                <a:solidFill>
                  <a:srgbClr val="C8D2DC"/>
                </a:solidFill>
              </a:defRPr>
            </a:pPr>
            <a:r>
              <a:t>• Validación estricta y profesional con Formik + Yup.</a:t>
            </a:r>
          </a:p>
          <a:p>
            <a:pPr>
              <a:spcBef>
                <a:spcPts val="600"/>
              </a:spcBef>
              <a:defRPr sz="1300">
                <a:solidFill>
                  <a:srgbClr val="C8D2DC"/>
                </a:solidFill>
              </a:defRPr>
            </a:pPr>
            <a:r>
              <a:t>• Persistencia confiable en localStorage.</a:t>
            </a:r>
          </a:p>
          <a:p>
            <a:pPr>
              <a:spcBef>
                <a:spcPts val="600"/>
              </a:spcBef>
              <a:defRPr sz="1300">
                <a:solidFill>
                  <a:srgbClr val="C8D2DC"/>
                </a:solidFill>
              </a:defRPr>
            </a:pPr>
            <a:r>
              <a:t>• Tres motores interactivos desarrollados en JavaScript.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3474720"/>
          </a:xfrm>
          <a:prstGeom prst="roundRect">
            <a:avLst/>
          </a:prstGeom>
          <a:solidFill>
            <a:srgbClr val="1B2838"/>
          </a:solidFill>
          <a:ln>
            <a:solidFill>
              <a:srgbClr val="66C0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6C0F4"/>
                </a:solidFill>
              </a:defRPr>
            </a:pPr>
            <a:r>
              <a:t>🚀 Buenas Prácticas Aplicadas</a:t>
            </a:r>
          </a:p>
          <a:p>
            <a:pPr>
              <a:spcBef>
                <a:spcPts val="600"/>
              </a:spcBef>
              <a:defRPr sz="1300">
                <a:solidFill>
                  <a:srgbClr val="C8D2DC"/>
                </a:solidFill>
              </a:defRPr>
            </a:pPr>
            <a:r>
              <a:t>• Control de versiones Git Flow en rama feature/steamlite-v2.</a:t>
            </a:r>
          </a:p>
          <a:p>
            <a:pPr>
              <a:spcBef>
                <a:spcPts val="600"/>
              </a:spcBef>
              <a:defRPr sz="1300">
                <a:solidFill>
                  <a:srgbClr val="C8D2DC"/>
                </a:solidFill>
              </a:defRPr>
            </a:pPr>
            <a:r>
              <a:t>• Arquitectura modular y componentes desacoplados.</a:t>
            </a:r>
          </a:p>
          <a:p>
            <a:pPr>
              <a:spcBef>
                <a:spcPts val="600"/>
              </a:spcBef>
              <a:defRPr sz="1300">
                <a:solidFill>
                  <a:srgbClr val="C8D2DC"/>
                </a:solidFill>
              </a:defRPr>
            </a:pPr>
            <a:r>
              <a:t>• Diseño inmersivo estilo Steam y 100% responsivo.</a:t>
            </a:r>
          </a:p>
          <a:p>
            <a:pPr>
              <a:spcBef>
                <a:spcPts val="600"/>
              </a:spcBef>
              <a:defRPr sz="1300">
                <a:solidFill>
                  <a:srgbClr val="C8D2DC"/>
                </a:solidFill>
              </a:defRPr>
            </a:pPr>
            <a:r>
              <a:t>• Canvas 2D optimizado con requestAnimationFrame a 60 FPS.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94960"/>
            <a:ext cx="10698480" cy="731520"/>
          </a:xfrm>
          <a:prstGeom prst="roundRect">
            <a:avLst/>
          </a:prstGeom>
          <a:solidFill>
            <a:srgbClr val="101822"/>
          </a:solidFill>
          <a:ln>
            <a:solidFill>
              <a:srgbClr val="66C0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🎮 ¡Muchas Gracias! — Espacio abierto para preguntas y comentarios del jurado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